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FEFD59B-190E-3877-1213-C06BD81E0EA9}">
          <p14:sldIdLst>
            <p14:sldId id="256"/>
          </p14:sldIdLst>
        </p14:section>
        <p14:section name="Analysis" id="{AD67E5EB-775F-5FFF-CEDB-86E154A9E5B7}">
          <p14:sldIdLst>
            <p14:sldId id="257"/>
            <p14:sldId id="258"/>
            <p14:sldId id="259"/>
          </p14:sldIdLst>
        </p14:section>
        <p14:section name="Dashboard" id="{5D8FE596-9EF9-1C62-43D9-FA8954568C73}">
          <p14:sldIdLst>
            <p14:sldId id="260"/>
            <p14:sldId id="261"/>
            <p14:sldId id="262"/>
            <p14:sldId id="263"/>
          </p14:sldIdLst>
        </p14:section>
        <p14:section name="Close" id="{F3C19F76-B50A-9832-E07C-F25EFBB30484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B34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B2B34"/>
                </a:solidFill>
                <a:latin typeface="+mn-lt"/>
              </a:rPr>
              <a:t>Top 10 countries by happiness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A8A8F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Switzerland</c:v>
                </c:pt>
                <c:pt idx="1">
                  <c:v>Iceland</c:v>
                </c:pt>
                <c:pt idx="2">
                  <c:v>Denmark</c:v>
                </c:pt>
                <c:pt idx="3">
                  <c:v>Norway</c:v>
                </c:pt>
                <c:pt idx="4">
                  <c:v>Canada</c:v>
                </c:pt>
                <c:pt idx="5">
                  <c:v>Finland</c:v>
                </c:pt>
                <c:pt idx="6">
                  <c:v>Netherlands</c:v>
                </c:pt>
                <c:pt idx="7">
                  <c:v>Sweden</c:v>
                </c:pt>
                <c:pt idx="8">
                  <c:v>New Zealand</c:v>
                </c:pt>
                <c:pt idx="9">
                  <c:v>Australia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7.5869999999999997</c:v>
                </c:pt>
                <c:pt idx="1">
                  <c:v>7.5609999999999999</c:v>
                </c:pt>
                <c:pt idx="2">
                  <c:v>7.5270000000000001</c:v>
                </c:pt>
                <c:pt idx="3">
                  <c:v>7.5220000000000002</c:v>
                </c:pt>
                <c:pt idx="4">
                  <c:v>7.4269999999999996</c:v>
                </c:pt>
                <c:pt idx="5">
                  <c:v>7.4059999999999997</c:v>
                </c:pt>
                <c:pt idx="6">
                  <c:v>7.3780000000000001</c:v>
                </c:pt>
                <c:pt idx="7">
                  <c:v>7.3639999999999999</c:v>
                </c:pt>
                <c:pt idx="8">
                  <c:v>7.2859999999999996</c:v>
                </c:pt>
                <c:pt idx="9">
                  <c:v>7.2839999999999998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EE-4F0A-9353-2DEF91323E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0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6"/>
        </c:scaling>
        <c:delete val="0"/>
        <c:axPos val="l"/>
        <c:majorGridlines>
          <c:spPr>
            <a:ln w="6350" cap="flat">
              <a:solidFill>
                <a:srgbClr val="D5E0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9B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B34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B2B34"/>
                </a:solidFill>
                <a:latin typeface="+mn-lt"/>
              </a:rPr>
              <a:t>Average score by region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F4A30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B3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Australia and New Zealand</c:v>
                </c:pt>
                <c:pt idx="1">
                  <c:v>North America</c:v>
                </c:pt>
                <c:pt idx="2">
                  <c:v>Western Europe</c:v>
                </c:pt>
                <c:pt idx="3">
                  <c:v>Latin America and Caribbean</c:v>
                </c:pt>
                <c:pt idx="4">
                  <c:v>Eastern Asia</c:v>
                </c:pt>
                <c:pt idx="5">
                  <c:v>Middle East and Northern Africa</c:v>
                </c:pt>
                <c:pt idx="6">
                  <c:v>Central and Eastern Europe</c:v>
                </c:pt>
                <c:pt idx="7">
                  <c:v>Southeastern Asia</c:v>
                </c:pt>
                <c:pt idx="8">
                  <c:v>Southern Asia</c:v>
                </c:pt>
                <c:pt idx="9">
                  <c:v>Sub-Saharan Africa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7.28</c:v>
                </c:pt>
                <c:pt idx="1">
                  <c:v>7.27</c:v>
                </c:pt>
                <c:pt idx="2">
                  <c:v>6.69</c:v>
                </c:pt>
                <c:pt idx="3">
                  <c:v>6.14</c:v>
                </c:pt>
                <c:pt idx="4">
                  <c:v>5.63</c:v>
                </c:pt>
                <c:pt idx="5">
                  <c:v>5.41</c:v>
                </c:pt>
                <c:pt idx="6">
                  <c:v>5.33</c:v>
                </c:pt>
                <c:pt idx="7">
                  <c:v>5.32</c:v>
                </c:pt>
                <c:pt idx="8">
                  <c:v>4.58</c:v>
                </c:pt>
                <c:pt idx="9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98-4317-A880-42F75D86E2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B34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B2B34"/>
                </a:solidFill>
                <a:latin typeface="+mn-lt"/>
              </a:rPr>
              <a:t>Countries per region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C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C8C-483E-B40B-4DC1786B945B}"/>
              </c:ext>
            </c:extLst>
          </c:dPt>
          <c:dPt>
            <c:idx val="1"/>
            <c:bubble3D val="0"/>
            <c:spPr>
              <a:solidFill>
                <a:srgbClr val="1A8A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C8C-483E-B40B-4DC1786B945B}"/>
              </c:ext>
            </c:extLst>
          </c:dPt>
          <c:dPt>
            <c:idx val="2"/>
            <c:bubble3D val="0"/>
            <c:spPr>
              <a:solidFill>
                <a:srgbClr val="6FB7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C8C-483E-B40B-4DC1786B945B}"/>
              </c:ext>
            </c:extLst>
          </c:dPt>
          <c:dPt>
            <c:idx val="3"/>
            <c:bubble3D val="0"/>
            <c:spPr>
              <a:solidFill>
                <a:srgbClr val="F4A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C8C-483E-B40B-4DC1786B945B}"/>
              </c:ext>
            </c:extLst>
          </c:dPt>
          <c:dPt>
            <c:idx val="4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C8C-483E-B40B-4DC1786B945B}"/>
              </c:ext>
            </c:extLst>
          </c:dPt>
          <c:dPt>
            <c:idx val="5"/>
            <c:bubble3D val="0"/>
            <c:spPr>
              <a:solidFill>
                <a:srgbClr val="2F6F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C8C-483E-B40B-4DC1786B945B}"/>
              </c:ext>
            </c:extLst>
          </c:dPt>
          <c:dPt>
            <c:idx val="6"/>
            <c:bubble3D val="0"/>
            <c:spPr>
              <a:solidFill>
                <a:srgbClr val="8C9B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C8C-483E-B40B-4DC1786B945B}"/>
              </c:ext>
            </c:extLst>
          </c:dPt>
          <c:dPt>
            <c:idx val="7"/>
            <c:bubble3D val="0"/>
            <c:spPr>
              <a:solidFill>
                <a:srgbClr val="B7C9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C8C-483E-B40B-4DC1786B945B}"/>
              </c:ext>
            </c:extLst>
          </c:dPt>
          <c:dPt>
            <c:idx val="8"/>
            <c:bubble3D val="0"/>
            <c:spPr>
              <a:solidFill>
                <a:srgbClr val="F7C7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C8C-483E-B40B-4DC1786B945B}"/>
              </c:ext>
            </c:extLst>
          </c:dPt>
          <c:dPt>
            <c:idx val="9"/>
            <c:bubble3D val="0"/>
            <c:spPr>
              <a:solidFill>
                <a:srgbClr val="A8D5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C8C-483E-B40B-4DC1786B945B}"/>
              </c:ext>
            </c:extLst>
          </c:dPt>
          <c:cat>
            <c:strRef>
              <c:f>Sheet1!$A$2:$A$11</c:f>
              <c:strCache>
                <c:ptCount val="10"/>
                <c:pt idx="0">
                  <c:v>Australia and New Zealand</c:v>
                </c:pt>
                <c:pt idx="1">
                  <c:v>North America</c:v>
                </c:pt>
                <c:pt idx="2">
                  <c:v>Western Europe</c:v>
                </c:pt>
                <c:pt idx="3">
                  <c:v>Latin America and Caribbean</c:v>
                </c:pt>
                <c:pt idx="4">
                  <c:v>Eastern Asia</c:v>
                </c:pt>
                <c:pt idx="5">
                  <c:v>Middle East and Northern Africa</c:v>
                </c:pt>
                <c:pt idx="6">
                  <c:v>Central and Eastern Europe</c:v>
                </c:pt>
                <c:pt idx="7">
                  <c:v>Southeastern Asia</c:v>
                </c:pt>
                <c:pt idx="8">
                  <c:v>Southern Asia</c:v>
                </c:pt>
                <c:pt idx="9">
                  <c:v>Sub-Saharan Africa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21</c:v>
                </c:pt>
                <c:pt idx="3">
                  <c:v>22</c:v>
                </c:pt>
                <c:pt idx="4">
                  <c:v>6</c:v>
                </c:pt>
                <c:pt idx="5">
                  <c:v>20</c:v>
                </c:pt>
                <c:pt idx="6">
                  <c:v>29</c:v>
                </c:pt>
                <c:pt idx="7">
                  <c:v>9</c:v>
                </c:pt>
                <c:pt idx="8">
                  <c:v>7</c:v>
                </c:pt>
                <c:pt idx="9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FC8C-483E-B40B-4DC1786B94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B2B3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4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B2B34"/>
                </a:solidFill>
                <a:latin typeface="+mn-lt"/>
              </a:rPr>
              <a:t>Top 10 happiest countries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A8A8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B3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Switzerland</c:v>
                </c:pt>
                <c:pt idx="1">
                  <c:v>Iceland</c:v>
                </c:pt>
                <c:pt idx="2">
                  <c:v>Denmark</c:v>
                </c:pt>
                <c:pt idx="3">
                  <c:v>Norway</c:v>
                </c:pt>
                <c:pt idx="4">
                  <c:v>Canada</c:v>
                </c:pt>
                <c:pt idx="5">
                  <c:v>Finland</c:v>
                </c:pt>
                <c:pt idx="6">
                  <c:v>Netherlands</c:v>
                </c:pt>
                <c:pt idx="7">
                  <c:v>Sweden</c:v>
                </c:pt>
                <c:pt idx="8">
                  <c:v>New Zealand</c:v>
                </c:pt>
                <c:pt idx="9">
                  <c:v>Australia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7.5869999999999997</c:v>
                </c:pt>
                <c:pt idx="1">
                  <c:v>7.5609999999999999</c:v>
                </c:pt>
                <c:pt idx="2">
                  <c:v>7.5270000000000001</c:v>
                </c:pt>
                <c:pt idx="3">
                  <c:v>7.5220000000000002</c:v>
                </c:pt>
                <c:pt idx="4">
                  <c:v>7.4269999999999996</c:v>
                </c:pt>
                <c:pt idx="5">
                  <c:v>7.4059999999999997</c:v>
                </c:pt>
                <c:pt idx="6">
                  <c:v>7.3780000000000001</c:v>
                </c:pt>
                <c:pt idx="7">
                  <c:v>7.3639999999999999</c:v>
                </c:pt>
                <c:pt idx="8">
                  <c:v>7.2859999999999996</c:v>
                </c:pt>
                <c:pt idx="9">
                  <c:v>7.2839999999999998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D7-491D-BC22-914A83E6AB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4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B2B34"/>
                </a:solidFill>
                <a:latin typeface="+mn-lt"/>
              </a:rPr>
              <a:t>Bottom 10 countries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B3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Togo</c:v>
                </c:pt>
                <c:pt idx="1">
                  <c:v>Burundi</c:v>
                </c:pt>
                <c:pt idx="2">
                  <c:v>Syria</c:v>
                </c:pt>
                <c:pt idx="3">
                  <c:v>Benin</c:v>
                </c:pt>
                <c:pt idx="4">
                  <c:v>Rwanda</c:v>
                </c:pt>
                <c:pt idx="5">
                  <c:v>Afghanistan</c:v>
                </c:pt>
                <c:pt idx="6">
                  <c:v>Burkina Faso</c:v>
                </c:pt>
                <c:pt idx="7">
                  <c:v>Ivory Coast</c:v>
                </c:pt>
                <c:pt idx="8">
                  <c:v>Guinea</c:v>
                </c:pt>
                <c:pt idx="9">
                  <c:v>Chad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2.839</c:v>
                </c:pt>
                <c:pt idx="1">
                  <c:v>2.9049999999999998</c:v>
                </c:pt>
                <c:pt idx="2">
                  <c:v>3.0059999999999998</c:v>
                </c:pt>
                <c:pt idx="3">
                  <c:v>3.34</c:v>
                </c:pt>
                <c:pt idx="4">
                  <c:v>3.4649999999999999</c:v>
                </c:pt>
                <c:pt idx="5">
                  <c:v>3.5750000000000002</c:v>
                </c:pt>
                <c:pt idx="6">
                  <c:v>3.5870000000000002</c:v>
                </c:pt>
                <c:pt idx="7">
                  <c:v>3.6549999999999998</c:v>
                </c:pt>
                <c:pt idx="8">
                  <c:v>3.6560000000000001</c:v>
                </c:pt>
                <c:pt idx="9">
                  <c:v>3.6669999999999998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D6-4EF4-A852-BC9038C69D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4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B2B34"/>
                </a:solidFill>
                <a:latin typeface="+mn-lt"/>
              </a:rPr>
              <a:t>Average happiness score by region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1A8A8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B3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Australia and New Zealand</c:v>
                </c:pt>
                <c:pt idx="1">
                  <c:v>North America</c:v>
                </c:pt>
                <c:pt idx="2">
                  <c:v>Western Europe</c:v>
                </c:pt>
                <c:pt idx="3">
                  <c:v>Latin America and Caribbean</c:v>
                </c:pt>
                <c:pt idx="4">
                  <c:v>Eastern Asia</c:v>
                </c:pt>
                <c:pt idx="5">
                  <c:v>Middle East and Northern Africa</c:v>
                </c:pt>
                <c:pt idx="6">
                  <c:v>Central and Eastern Europe</c:v>
                </c:pt>
                <c:pt idx="7">
                  <c:v>Southeastern Asia</c:v>
                </c:pt>
                <c:pt idx="8">
                  <c:v>Southern Asia</c:v>
                </c:pt>
                <c:pt idx="9">
                  <c:v>Sub-Saharan Africa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7.28</c:v>
                </c:pt>
                <c:pt idx="1">
                  <c:v>7.27</c:v>
                </c:pt>
                <c:pt idx="2">
                  <c:v>6.69</c:v>
                </c:pt>
                <c:pt idx="3">
                  <c:v>6.14</c:v>
                </c:pt>
                <c:pt idx="4">
                  <c:v>5.63</c:v>
                </c:pt>
                <c:pt idx="5">
                  <c:v>5.41</c:v>
                </c:pt>
                <c:pt idx="6">
                  <c:v>5.33</c:v>
                </c:pt>
                <c:pt idx="7">
                  <c:v>5.32</c:v>
                </c:pt>
                <c:pt idx="8">
                  <c:v>4.58</c:v>
                </c:pt>
                <c:pt idx="9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FA-47FF-93C8-3ADDA99147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4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B2B34"/>
                </a:solidFill>
                <a:latin typeface="+mn-lt"/>
              </a:rPr>
              <a:t>Correlation with happiness score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F4A30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B3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Economy</c:v>
                </c:pt>
                <c:pt idx="1">
                  <c:v>Family</c:v>
                </c:pt>
                <c:pt idx="2">
                  <c:v>Health</c:v>
                </c:pt>
                <c:pt idx="3">
                  <c:v>Freedom</c:v>
                </c:pt>
                <c:pt idx="4">
                  <c:v>Trust</c:v>
                </c:pt>
                <c:pt idx="5">
                  <c:v>Generosity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0.78</c:v>
                </c:pt>
                <c:pt idx="1">
                  <c:v>0.74</c:v>
                </c:pt>
                <c:pt idx="2">
                  <c:v>0.72</c:v>
                </c:pt>
                <c:pt idx="3">
                  <c:v>0.56999999999999995</c:v>
                </c:pt>
                <c:pt idx="4">
                  <c:v>0.4</c:v>
                </c:pt>
                <c:pt idx="5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9D-4EDB-8291-66BA756FE4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82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subject, competition and the dataset: World Happiness Report 2015, 158 countries.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facts from the cleaned dataset: 158 rows, 10 regions, mean 5.38, median 5.23.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Result: a tidy table with 158 countries, 12 columns, no nulls and no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final dataset structure and how each group of columns feeds the visuals.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rebuilt from the Power BI file: KPI cards, top countries, regional average and regional country count. Replace with a screenshot of the Power BI page if preferred.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10 scores range 7.28 to 7.59. The bottom 10 range from 2.84 (Togo) to 3.67 (Chad).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Regions with fewer countries (Australia and New Zealand, North America) have only 2 countries each, so interpret their averages with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Correlations computed on all 158 countries: Economy 0.78, Family 0.74, Health 0.72, Freedom 0.57, Trust 0.40, Generosity 0.18.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for policy makers and organizations. Linked to the correlation analysis; they point to association rather than proven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takeaways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Data Solutions  |  INSIGHTVISTA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chemeClr val="accent1"/>
                </a:solidFill>
              </a:rPr>
              <a:t>INSIGHTVISTA 2026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Happiness Report 2015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4"/>
                </a:solidFill>
              </a:rPr>
              <a:t>What drives happiness across 158 countries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Subject: </a:t>
            </a:r>
            <a:r>
              <a:rPr lang="en-US" sz="1800" dirty="0">
                <a:solidFill>
                  <a:schemeClr val="bg1"/>
                </a:solidFill>
              </a:rPr>
              <a:t>Data Analytics and Visualization (1IT508)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Competition: </a:t>
            </a:r>
            <a:r>
              <a:rPr lang="en-US" sz="1800" dirty="0">
                <a:solidFill>
                  <a:schemeClr val="bg1"/>
                </a:solidFill>
              </a:rPr>
              <a:t>INSIGHTVISTA 2026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Team name: </a:t>
            </a:r>
            <a:r>
              <a:rPr lang="en-US" b="1" dirty="0">
                <a:solidFill>
                  <a:schemeClr val="bg1"/>
                </a:solidFill>
              </a:rPr>
              <a:t>Data Solutions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Group members (Enrollment numbers)</a:t>
            </a:r>
            <a:endParaRPr lang="en-US" sz="1400" dirty="0"/>
          </a:p>
        </p:txBody>
      </p:sp>
      <p:sp>
        <p:nvSpPr>
          <p:cNvPr id="7" name="Member chip 1"/>
          <p:cNvSpPr/>
          <p:nvPr/>
        </p:nvSpPr>
        <p:spPr>
          <a:xfrm>
            <a:off x="731520" y="4572000"/>
            <a:ext cx="137160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240840116075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(Patel Krishant)</a:t>
            </a:r>
            <a:endParaRPr lang="en-US" sz="1200" dirty="0"/>
          </a:p>
        </p:txBody>
      </p:sp>
      <p:sp>
        <p:nvSpPr>
          <p:cNvPr id="9" name="Member chip 2"/>
          <p:cNvSpPr/>
          <p:nvPr/>
        </p:nvSpPr>
        <p:spPr>
          <a:xfrm>
            <a:off x="2212848" y="4572000"/>
            <a:ext cx="137160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212848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240840116077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(Patel Nilay)</a:t>
            </a:r>
          </a:p>
        </p:txBody>
      </p:sp>
      <p:sp>
        <p:nvSpPr>
          <p:cNvPr id="11" name="Member chip 3"/>
          <p:cNvSpPr/>
          <p:nvPr/>
        </p:nvSpPr>
        <p:spPr>
          <a:xfrm>
            <a:off x="3694176" y="4572000"/>
            <a:ext cx="137160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694176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240840116086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(Patel </a:t>
            </a:r>
            <a:r>
              <a:rPr lang="en-US" sz="1200" b="1" dirty="0" err="1">
                <a:solidFill>
                  <a:schemeClr val="bg1"/>
                </a:solidFill>
              </a:rPr>
              <a:t>Rudrik</a:t>
            </a:r>
            <a:r>
              <a:rPr lang="en-US" sz="1200" b="1" dirty="0">
                <a:solidFill>
                  <a:schemeClr val="bg1"/>
                </a:solidFill>
              </a:rPr>
              <a:t>)</a:t>
            </a:r>
            <a:endParaRPr lang="en-US" sz="1200" dirty="0"/>
          </a:p>
        </p:txBody>
      </p:sp>
      <p:sp>
        <p:nvSpPr>
          <p:cNvPr id="13" name="Member chip 4"/>
          <p:cNvSpPr/>
          <p:nvPr/>
        </p:nvSpPr>
        <p:spPr>
          <a:xfrm>
            <a:off x="5175504" y="4572000"/>
            <a:ext cx="137160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175504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240840116140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(Yadav Pranjal)</a:t>
            </a:r>
            <a:endParaRPr lang="en-US" sz="1200" dirty="0"/>
          </a:p>
        </p:txBody>
      </p:sp>
      <p:sp>
        <p:nvSpPr>
          <p:cNvPr id="15" name="Member chip 5"/>
          <p:cNvSpPr/>
          <p:nvPr/>
        </p:nvSpPr>
        <p:spPr>
          <a:xfrm>
            <a:off x="6656832" y="4572000"/>
            <a:ext cx="137160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656832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250843116014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(Pandey Umesh)</a:t>
            </a:r>
            <a:endParaRPr lang="en-US" sz="1200" dirty="0"/>
          </a:p>
        </p:txBody>
      </p:sp>
      <p:sp>
        <p:nvSpPr>
          <p:cNvPr id="17" name="Motif ring outer"/>
          <p:cNvSpPr/>
          <p:nvPr/>
        </p:nvSpPr>
        <p:spPr>
          <a:xfrm>
            <a:off x="8321040" y="1097280"/>
            <a:ext cx="3474720" cy="347472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Motif ring inner"/>
          <p:cNvSpPr/>
          <p:nvPr/>
        </p:nvSpPr>
        <p:spPr>
          <a:xfrm>
            <a:off x="8869680" y="1645920"/>
            <a:ext cx="2377440" cy="2377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869680" y="20116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</a:t>
            </a:r>
            <a:endParaRPr lang="en-US" sz="54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countries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Observation: first look at the data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6304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Countries ranked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291840" y="146304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2900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World regions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548640" y="365760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5.38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Average happiness score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3291840" y="365760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42900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2.84 – 7.59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Lowest to highest score</a:t>
            </a:r>
            <a:endParaRPr lang="en-US" sz="1400" dirty="0"/>
          </a:p>
        </p:txBody>
      </p:sp>
      <p:sp>
        <p:nvSpPr>
          <p:cNvPr id="15" name="Obs number 1"/>
          <p:cNvSpPr/>
          <p:nvPr/>
        </p:nvSpPr>
        <p:spPr>
          <a:xfrm>
            <a:off x="6400800" y="1508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00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14630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Big gap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Switzerland (7.59) leads and Togo (2.84) is last, a spread of 4.7 points.</a:t>
            </a:r>
            <a:endParaRPr lang="en-US" sz="1800" dirty="0"/>
          </a:p>
        </p:txBody>
      </p:sp>
      <p:sp>
        <p:nvSpPr>
          <p:cNvPr id="18" name="Obs number 2"/>
          <p:cNvSpPr/>
          <p:nvPr/>
        </p:nvSpPr>
        <p:spPr>
          <a:xfrm>
            <a:off x="6400800" y="2606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008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25603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Uneven regions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Sub-Saharan Africa has the most countries (40) and the lowest average (4.20).</a:t>
            </a:r>
            <a:endParaRPr lang="en-US" sz="1800" dirty="0"/>
          </a:p>
        </p:txBody>
      </p:sp>
      <p:sp>
        <p:nvSpPr>
          <p:cNvPr id="21" name="Obs number 3"/>
          <p:cNvSpPr/>
          <p:nvPr/>
        </p:nvSpPr>
        <p:spPr>
          <a:xfrm>
            <a:off x="6400800" y="3703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4008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6576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Skewed scores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mean (5.38) sits above the median (5.23): a few very happy countries pull it up.</a:t>
            </a:r>
            <a:endParaRPr lang="en-US" sz="1800" dirty="0"/>
          </a:p>
        </p:txBody>
      </p:sp>
      <p:sp>
        <p:nvSpPr>
          <p:cNvPr id="24" name="Obs number 4"/>
          <p:cNvSpPr/>
          <p:nvPr/>
        </p:nvSpPr>
        <p:spPr>
          <a:xfrm>
            <a:off x="6400800" y="4800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40080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475488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Clean structure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Each country has a score plus six factors: economy, family, health, freedom, trust, generosity.</a:t>
            </a:r>
            <a:endParaRPr lang="en-US" sz="18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final data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554480"/>
            <a:ext cx="2057400" cy="24688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ep number 1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Load the 2015 CSV into </a:t>
            </a:r>
            <a:r>
              <a:rPr lang="en-US" sz="1400" dirty="0"/>
              <a:t>Google collab </a:t>
            </a:r>
            <a:r>
              <a:rPr lang="en-US" sz="1400" dirty="0">
                <a:solidFill>
                  <a:schemeClr val="tx1"/>
                </a:solidFill>
              </a:rPr>
              <a:t>through Power Query.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2788920" y="1554480"/>
            <a:ext cx="2057400" cy="24688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ep number 2"/>
          <p:cNvSpPr/>
          <p:nvPr/>
        </p:nvSpPr>
        <p:spPr>
          <a:xfrm>
            <a:off x="2926080" y="1691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926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7889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Check the shape: 158 rows and 12 columns.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5029200" y="1554480"/>
            <a:ext cx="2057400" cy="24688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ep number 3"/>
          <p:cNvSpPr/>
          <p:nvPr/>
        </p:nvSpPr>
        <p:spPr>
          <a:xfrm>
            <a:off x="5166360" y="1691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1663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7889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Check for missing values and duplicate countries: none left.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7269480" y="1554480"/>
            <a:ext cx="2057400" cy="24688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tep number 4"/>
          <p:cNvSpPr/>
          <p:nvPr/>
        </p:nvSpPr>
        <p:spPr>
          <a:xfrm>
            <a:off x="7406640" y="1691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406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7889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Set text, whole-number and decimal types for each column.</a:t>
            </a:r>
            <a:endParaRPr lang="en-US" sz="1400" dirty="0"/>
          </a:p>
        </p:txBody>
      </p:sp>
      <p:sp>
        <p:nvSpPr>
          <p:cNvPr id="23" name="Step card 5"/>
          <p:cNvSpPr/>
          <p:nvPr/>
        </p:nvSpPr>
        <p:spPr>
          <a:xfrm>
            <a:off x="9509760" y="1554480"/>
            <a:ext cx="2057400" cy="24688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 number 5"/>
          <p:cNvSpPr/>
          <p:nvPr/>
        </p:nvSpPr>
        <p:spPr>
          <a:xfrm>
            <a:off x="9646920" y="1691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6469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64692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646920" y="27889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Load to the data model and build the visuals.</a:t>
            </a:r>
            <a:endParaRPr lang="en-US" sz="1400" dirty="0"/>
          </a:p>
        </p:txBody>
      </p:sp>
      <p:sp>
        <p:nvSpPr>
          <p:cNvPr id="28" name="Result banner"/>
          <p:cNvSpPr/>
          <p:nvPr/>
        </p:nvSpPr>
        <p:spPr>
          <a:xfrm>
            <a:off x="548640" y="4389120"/>
            <a:ext cx="1106424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822960" y="4526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</a:t>
            </a:r>
            <a:endParaRPr lang="en-US" sz="44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349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clean rows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520440" y="4526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32" name="Text 30"/>
          <p:cNvSpPr txBox="1"/>
          <p:nvPr/>
        </p:nvSpPr>
        <p:spPr>
          <a:xfrm>
            <a:off x="3520440" y="5349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missing values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4526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5349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duplicate countries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915400" y="4526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36" name="Text 34"/>
          <p:cNvSpPr txBox="1"/>
          <p:nvPr/>
        </p:nvSpPr>
        <p:spPr>
          <a:xfrm>
            <a:off x="8915400" y="5349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analysis-ready columns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the final clean dataset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330531"/>
              </p:ext>
            </p:extLst>
          </p:nvPr>
        </p:nvGraphicFramePr>
        <p:xfrm>
          <a:off x="548640" y="1463040"/>
          <a:ext cx="6675120" cy="3200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in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Country, Region, Happiness 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Slicers, map, grouping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Happiness Score, Standard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cards, gauge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 (GDP), Family, Health, Freedom, Trust, Generosity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comparison, factor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Dystopia Residual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 with it</a:t>
            </a:r>
            <a:endParaRPr lang="en-US" sz="2000" dirty="0"/>
          </a:p>
        </p:txBody>
      </p:sp>
      <p:sp>
        <p:nvSpPr>
          <p:cNvPr id="3" name="Text 2"/>
          <p:cNvSpPr txBox="1"/>
          <p:nvPr/>
        </p:nvSpPr>
        <p:spPr>
          <a:xfrm>
            <a:off x="7772400" y="196596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Built  cards: countries, average score, total score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Ranked countries and compared regions with bar</a:t>
            </a:r>
            <a:r>
              <a:rPr lang="en-US" sz="1500" dirty="0"/>
              <a:t> and </a:t>
            </a:r>
            <a:r>
              <a:rPr lang="en-US" sz="1500" dirty="0">
                <a:solidFill>
                  <a:schemeClr val="tx1"/>
                </a:solidFill>
              </a:rPr>
              <a:t>donut 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Added a map and gauge for a global view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Added Country and Score slicers so viewers can filter</a:t>
            </a:r>
            <a:endParaRPr lang="en-US" sz="1500" dirty="0"/>
          </a:p>
        </p:txBody>
      </p:sp>
      <p:sp>
        <p:nvSpPr>
          <p:cNvPr id="6" name="Takeaway band"/>
          <p:cNvSpPr/>
          <p:nvPr/>
        </p:nvSpPr>
        <p:spPr>
          <a:xfrm>
            <a:off x="548640" y="5074920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31520" y="5074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Every column is numeric or clearly categorical, so each chart can be built without extra transformation.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dashboard</a:t>
            </a:r>
            <a:endParaRPr lang="en-US" sz="3200" dirty="0"/>
          </a:p>
        </p:txBody>
      </p:sp>
      <p:sp>
        <p:nvSpPr>
          <p:cNvPr id="3" name="Dashboard frame"/>
          <p:cNvSpPr/>
          <p:nvPr/>
        </p:nvSpPr>
        <p:spPr>
          <a:xfrm>
            <a:off x="548640" y="1325880"/>
            <a:ext cx="11064240" cy="4892040"/>
          </a:xfrm>
          <a:prstGeom prst="roundRect">
            <a:avLst>
              <a:gd name="adj" fmla="val 224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PI 1"/>
          <p:cNvSpPr/>
          <p:nvPr/>
        </p:nvSpPr>
        <p:spPr>
          <a:xfrm>
            <a:off x="731520" y="1463040"/>
            <a:ext cx="146304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508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Countries</a:t>
            </a:r>
            <a:endParaRPr lang="en-US" sz="1200" dirty="0"/>
          </a:p>
        </p:txBody>
      </p:sp>
      <p:sp>
        <p:nvSpPr>
          <p:cNvPr id="7" name="KPI 2"/>
          <p:cNvSpPr/>
          <p:nvPr/>
        </p:nvSpPr>
        <p:spPr>
          <a:xfrm>
            <a:off x="2331720" y="1463040"/>
            <a:ext cx="146304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331720" y="1508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5.38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Avg score</a:t>
            </a:r>
            <a:endParaRPr lang="en-US" sz="1200" dirty="0"/>
          </a:p>
        </p:txBody>
      </p:sp>
      <p:sp>
        <p:nvSpPr>
          <p:cNvPr id="10" name="KPI 3"/>
          <p:cNvSpPr/>
          <p:nvPr/>
        </p:nvSpPr>
        <p:spPr>
          <a:xfrm>
            <a:off x="3931920" y="1463040"/>
            <a:ext cx="146304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931920" y="1508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849.4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Total score</a:t>
            </a:r>
            <a:endParaRPr lang="en-US" sz="1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532120" y="1463040"/>
          <a:ext cx="59436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"/>
          <p:cNvGraphicFramePr/>
          <p:nvPr/>
        </p:nvGraphicFramePr>
        <p:xfrm>
          <a:off x="731520" y="2697480"/>
          <a:ext cx="46634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2"/>
          <p:cNvGraphicFramePr/>
          <p:nvPr/>
        </p:nvGraphicFramePr>
        <p:xfrm>
          <a:off x="5532120" y="3931920"/>
          <a:ext cx="59436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1: leaders and laggards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6217920" y="137160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Insight band"/>
          <p:cNvSpPr/>
          <p:nvPr/>
        </p:nvSpPr>
        <p:spPr>
          <a:xfrm>
            <a:off x="548640" y="5669280"/>
            <a:ext cx="1115568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Switzerland, Iceland, Denmark and Norway top the list; the bottom 10 are all below 4.0.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2: regions are far apart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731520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gion callout 1"/>
          <p:cNvSpPr/>
          <p:nvPr/>
        </p:nvSpPr>
        <p:spPr>
          <a:xfrm>
            <a:off x="8229600" y="1371600"/>
            <a:ext cx="34747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412480" y="1463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3.08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20848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point gap between Australia and New Zealand (7.28) and Sub-Saharan Africa (4.20)</a:t>
            </a:r>
            <a:endParaRPr lang="en-US" sz="1300" dirty="0"/>
          </a:p>
        </p:txBody>
      </p:sp>
      <p:sp>
        <p:nvSpPr>
          <p:cNvPr id="7" name="Region callout 2"/>
          <p:cNvSpPr/>
          <p:nvPr/>
        </p:nvSpPr>
        <p:spPr>
          <a:xfrm>
            <a:off x="8229600" y="2971800"/>
            <a:ext cx="34747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412480" y="3063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36850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countries in Sub-Saharan Africa, the largest region and the lowest average</a:t>
            </a:r>
            <a:endParaRPr lang="en-US" sz="1300" dirty="0"/>
          </a:p>
        </p:txBody>
      </p:sp>
      <p:sp>
        <p:nvSpPr>
          <p:cNvPr id="10" name="Region callout 3"/>
          <p:cNvSpPr/>
          <p:nvPr/>
        </p:nvSpPr>
        <p:spPr>
          <a:xfrm>
            <a:off x="8229600" y="4572000"/>
            <a:ext cx="34747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412480" y="4663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 vs 1.30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52852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average GDP factor: Sub-Saharan Africa vs Western Europe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3: what moves happiness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7665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Driver card 1"/>
          <p:cNvSpPr/>
          <p:nvPr/>
        </p:nvSpPr>
        <p:spPr>
          <a:xfrm>
            <a:off x="7680960" y="137160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86384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Economy, family and health lead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Each has a correlation above 0.70 with the score.</a:t>
            </a:r>
            <a:endParaRPr lang="en-US" sz="1700" dirty="0"/>
          </a:p>
        </p:txBody>
      </p:sp>
      <p:sp>
        <p:nvSpPr>
          <p:cNvPr id="6" name="Driver card 2"/>
          <p:cNvSpPr/>
          <p:nvPr/>
        </p:nvSpPr>
        <p:spPr>
          <a:xfrm>
            <a:off x="7680960" y="278892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863840" y="2880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Freedom matters next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 0.57, it is a clear middle-strength driver.</a:t>
            </a:r>
            <a:endParaRPr lang="en-US" sz="1700" dirty="0"/>
          </a:p>
        </p:txBody>
      </p:sp>
      <p:sp>
        <p:nvSpPr>
          <p:cNvPr id="8" name="Driver card 3"/>
          <p:cNvSpPr/>
          <p:nvPr/>
        </p:nvSpPr>
        <p:spPr>
          <a:xfrm>
            <a:off x="7680960" y="420624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4297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Generosity is weakest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 0.18, it barely tracks the score.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760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Correlation shows association, not cause. Dystopia Residual is left out because it is a model remainder.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Recommendation card 1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 number 1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45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economy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Target jobs and income growth in Sub-Saharan Africa and Southern Asia, where GDP scores are lowest.</a:t>
            </a:r>
            <a:endParaRPr lang="en-US" sz="1500" dirty="0"/>
          </a:p>
        </p:txBody>
      </p:sp>
      <p:sp>
        <p:nvSpPr>
          <p:cNvPr id="8" name="Recommendation card 2"/>
          <p:cNvSpPr/>
          <p:nvPr/>
        </p:nvSpPr>
        <p:spPr>
          <a:xfrm>
            <a:off x="6172200" y="137160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 number 2"/>
          <p:cNvSpPr/>
          <p:nvPr/>
        </p:nvSpPr>
        <p:spPr>
          <a:xfrm>
            <a:off x="640080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645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health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4231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Expand access to care: life expectancy tracks happiness at 0.72.</a:t>
            </a:r>
            <a:endParaRPr lang="en-US" sz="1500" dirty="0"/>
          </a:p>
        </p:txBody>
      </p:sp>
      <p:sp>
        <p:nvSpPr>
          <p:cNvPr id="13" name="Recommendation card 3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 number 3"/>
          <p:cNvSpPr/>
          <p:nvPr/>
        </p:nvSpPr>
        <p:spPr>
          <a:xfrm>
            <a:off x="777240" y="39776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977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 social support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548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Back family and community programs; the family factor correlates at 0.74.</a:t>
            </a:r>
            <a:endParaRPr lang="en-US" sz="1500" dirty="0"/>
          </a:p>
        </p:txBody>
      </p:sp>
      <p:sp>
        <p:nvSpPr>
          <p:cNvPr id="18" name="Recommendation card 4"/>
          <p:cNvSpPr/>
          <p:nvPr/>
        </p:nvSpPr>
        <p:spPr>
          <a:xfrm>
            <a:off x="6172200" y="370332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 number 4"/>
          <p:cNvSpPr/>
          <p:nvPr/>
        </p:nvSpPr>
        <p:spPr>
          <a:xfrm>
            <a:off x="6400800" y="39776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0080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3977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freedom and trust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7548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Safeguard personal freedom and cut corruption to lift the weaker drivers.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akeaway 1"/>
          <p:cNvSpPr/>
          <p:nvPr/>
        </p:nvSpPr>
        <p:spPr>
          <a:xfrm>
            <a:off x="731520" y="1645920"/>
            <a:ext cx="694944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60120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7.59 to 2.84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520440" y="16459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Happiness varies widely, from Switzerland to Togo.</a:t>
            </a:r>
            <a:endParaRPr lang="en-US" sz="1500" dirty="0"/>
          </a:p>
        </p:txBody>
      </p:sp>
      <p:sp>
        <p:nvSpPr>
          <p:cNvPr id="6" name="Takeaway 2"/>
          <p:cNvSpPr/>
          <p:nvPr/>
        </p:nvSpPr>
        <p:spPr>
          <a:xfrm>
            <a:off x="731520" y="2880360"/>
            <a:ext cx="694944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60120" y="2880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Economy leads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8803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GDP, family and health are the strongest links to happiness.</a:t>
            </a:r>
            <a:endParaRPr lang="en-US" sz="1500" dirty="0"/>
          </a:p>
        </p:txBody>
      </p:sp>
      <p:sp>
        <p:nvSpPr>
          <p:cNvPr id="9" name="Takeaway 3"/>
          <p:cNvSpPr/>
          <p:nvPr/>
        </p:nvSpPr>
        <p:spPr>
          <a:xfrm>
            <a:off x="731520" y="4114800"/>
            <a:ext cx="694944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60120" y="41148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ready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41148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Slicers and charts let anyone explore the data by country and region.</a:t>
            </a:r>
            <a:endParaRPr lang="en-US" sz="1500" dirty="0"/>
          </a:p>
        </p:txBody>
      </p:sp>
      <p:sp>
        <p:nvSpPr>
          <p:cNvPr id="12" name="Thank you circle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503920" y="14630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Data Solutions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Data Analytics and Visualization (1IT508)  |  INSIGHTVISTA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am Insights">
  <a:themeElements>
    <a:clrScheme name="Team Insights">
      <a:dk1>
        <a:srgbClr val="1B2B34"/>
      </a:dk1>
      <a:lt1>
        <a:srgbClr val="FFFFFF"/>
      </a:lt1>
      <a:dk2>
        <a:srgbClr val="0B3C49"/>
      </a:dk2>
      <a:lt2>
        <a:srgbClr val="EAF3F4"/>
      </a:lt2>
      <a:accent1>
        <a:srgbClr val="F4A300"/>
      </a:accent1>
      <a:accent2>
        <a:srgbClr val="1A8A8F"/>
      </a:accent2>
      <a:accent3>
        <a:srgbClr val="E4572E"/>
      </a:accent3>
      <a:accent4>
        <a:srgbClr val="6FB7B7"/>
      </a:accent4>
      <a:accent5>
        <a:srgbClr val="8C9BA5"/>
      </a:accent5>
      <a:accent6>
        <a:srgbClr val="2F6F4F"/>
      </a:accent6>
      <a:hlink>
        <a:srgbClr val="1A8A8F"/>
      </a:hlink>
      <a:folHlink>
        <a:srgbClr val="8C9BA5"/>
      </a:folHlink>
    </a:clrScheme>
    <a:fontScheme name="Team Insigh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907</Words>
  <Application>Microsoft Office PowerPoint</Application>
  <PresentationFormat>Widescreen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Team Insights</vt:lpstr>
      <vt:lpstr>PowerPoint Presentation</vt:lpstr>
      <vt:lpstr>Observation: first look at the data</vt:lpstr>
      <vt:lpstr>From raw data to final data</vt:lpstr>
      <vt:lpstr>Solution: the final clean dataset</vt:lpstr>
      <vt:lpstr>Visualization dashboard</vt:lpstr>
      <vt:lpstr>Insight 1: leaders and laggards</vt:lpstr>
      <vt:lpstr>Insight 2: regions are far apart</vt:lpstr>
      <vt:lpstr>Insight 3: what moves happiness</vt:lpstr>
      <vt:lpstr>Recommendations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Happiness Report 2015 - Team Insights</dc:title>
  <dc:subject>PptxGenJS Presentation</dc:subject>
  <dc:creator>PptxGenJS</dc:creator>
  <cp:lastModifiedBy>Nilay Patel</cp:lastModifiedBy>
  <cp:revision>2</cp:revision>
  <dcterms:created xsi:type="dcterms:W3CDTF">2026-10-12T08:56:12Z</dcterms:created>
  <dcterms:modified xsi:type="dcterms:W3CDTF">2026-10-12T09:33:51Z</dcterms:modified>
</cp:coreProperties>
</file>